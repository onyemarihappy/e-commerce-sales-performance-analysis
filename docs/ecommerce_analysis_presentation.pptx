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85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237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3657600"/>
            <a:ext cx="2560320" cy="14859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2926080"/>
            <a:ext cx="1645920" cy="7772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Analysis of Kaggle E-Commerce Dataset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2010 – Dec 2011  |  541,909 Transactions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Happy </a:t>
            </a:r>
            <a:r>
              <a:rPr lang="en-US" sz="11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Anwuli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93192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64008" cy="397764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retailer requires executive-level insight into:
• Sales trajectory and seasonality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customers generate the most value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performance and portfolio health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retention and churn risk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covers 397,884 valid transactions across 37 countries, 4,338 customers and 3,665 SKUs.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868680"/>
            <a:ext cx="438912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868680"/>
            <a:ext cx="64008" cy="3977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960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17720" y="1417320"/>
            <a:ext cx="347472" cy="347472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4173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141732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Revenue Patterns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74920" y="16733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trends, seasonality, and geographic concentration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2240280"/>
            <a:ext cx="347472" cy="347472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2240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22402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Customer Behaviour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74920" y="24963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by value; measure retention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3063240"/>
            <a:ext cx="347472" cy="347472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3063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306324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Product Portfolio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74920" y="33192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top performers and underperforming SKUs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3886200"/>
            <a:ext cx="347472" cy="347472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4617720" y="3886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38862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Actionable Insight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74920" y="41422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concrete business strategies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Dataset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06040" cy="1600200"/>
          </a:xfrm>
          <a:prstGeom prst="rect">
            <a:avLst/>
          </a:prstGeom>
          <a:solidFill>
            <a:srgbClr val="1B3A6B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887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541,909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914400"/>
            <a:ext cx="2606040" cy="1600200"/>
          </a:xfrm>
          <a:prstGeom prst="rect">
            <a:avLst/>
          </a:prstGeom>
          <a:solidFill>
            <a:srgbClr val="1B3A6B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54680" y="11887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397,884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154680" y="1920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Transactions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914400"/>
            <a:ext cx="2606040" cy="1600200"/>
          </a:xfrm>
          <a:prstGeom prst="rect">
            <a:avLst/>
          </a:prstGeom>
          <a:solidFill>
            <a:srgbClr val="1B3A6B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89320" y="11887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4,338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989320" y="1920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31089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3,665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0040" y="38404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SKUs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54680" y="283464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54680" y="31089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154680" y="38404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Served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283464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89320" y="31089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£8.9M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989320" y="38404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Data Quality Notes: 135K rows removed (missing CustomerID) · Cancellations excluded · Zero/negative values filtered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Revenue Trend &amp; Order Volume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303520" cy="21945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971800"/>
            <a:ext cx="5303520" cy="19202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60720" y="777240"/>
            <a:ext cx="31089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760720" y="777240"/>
            <a:ext cx="64008" cy="41148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8" name="Text 4"/>
          <p:cNvSpPr/>
          <p:nvPr/>
        </p:nvSpPr>
        <p:spPr>
          <a:xfrm>
            <a:off x="5943600" y="868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943600" y="1325880"/>
            <a:ext cx="2743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📈 Revenue grew consistently from Dec 2010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🎄 November 2011 was the peak month — Christmas demand surge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📦 Order volume tracks revenue closely, confirming volume-driven growth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⚠️  December 2011 data is partial (dataset ends 9 Dec)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💡 Q4 is critical — invest in inventory &amp; marketing by September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RFM Customer Segmentation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4320" y="37764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Champions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4050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934 customers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£6.3M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3795" y="4895938"/>
            <a:ext cx="9002233" cy="183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i="1" dirty="0"/>
              <a:t>Full dashboard available as an interactive Power BI file with dynamic filtering by Year, Country, Customer Segment, and Quarter.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450592" y="37764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Loyal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26864" y="37764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At Risk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26864" y="4050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800 customers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£430K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803136" y="37764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Lost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03136" y="4050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883 customers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£203K</a:t>
            </a:r>
            <a:endParaRPr lang="en-US" sz="9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D17DFAA-E231-4796-A3F4-818C51831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89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81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Geographic Revenue Performance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029200" cy="21031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926080"/>
            <a:ext cx="5029200" cy="20116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0" y="777240"/>
            <a:ext cx="338328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486400" y="777240"/>
            <a:ext cx="64008" cy="41605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4"/>
          <p:cNvSpPr/>
          <p:nvPr/>
        </p:nvSpPr>
        <p:spPr>
          <a:xfrm>
            <a:off x="5669280" y="868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669280" y="132588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🇬🇧 UK = 83% of revenue — significant concentration risk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🇳🇱 Netherlands is the #2 market internationally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🇩🇪🇫🇷 Germany and France growing steadily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🌍 Top 5 intl. markets represent a £1.5M+ expansion opportunity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💡 Build localised experiences and EU fulfilment hubs to scale internationally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Customer Behaviour Analysis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303520" cy="192024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788920"/>
            <a:ext cx="5303520" cy="2103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60720" y="777240"/>
            <a:ext cx="31089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760720" y="777240"/>
            <a:ext cx="64008" cy="4114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4"/>
          <p:cNvSpPr/>
          <p:nvPr/>
        </p:nvSpPr>
        <p:spPr>
          <a:xfrm>
            <a:off x="5943600" y="868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943600" y="1325880"/>
            <a:ext cx="2743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💰 Overall AOV: £369 (mean); £230 (median)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📅 AOV spikes in Q4 — customers buy more per order for gifting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🔁 ~65% of customers are repeat buyers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👤 Median customer places 2 orders; max is 209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💡 Post-purchase nurture sequences can convert one-time buyers to repeat buyers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RFM Customer Segmentation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2834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749040"/>
            <a:ext cx="2011680" cy="1188720"/>
          </a:xfrm>
          <a:prstGeom prst="rect">
            <a:avLst/>
          </a:prstGeom>
          <a:solidFill>
            <a:srgbClr val="E8622A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37764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Champions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4050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934 customers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£6.3M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74320" y="4462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E2E8F0"/>
                </a:solidFill>
              </a:rPr>
              <a:t>VIP loyalty tier, personal outreach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450592" y="3749040"/>
            <a:ext cx="2011680" cy="1188720"/>
          </a:xfrm>
          <a:prstGeom prst="rect">
            <a:avLst/>
          </a:prstGeom>
          <a:solidFill>
            <a:srgbClr val="1B3A6B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50592" y="37764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Loyal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450592" y="4050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1,008 customers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£1.4M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450592" y="4462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E2E8F0"/>
                </a:solidFill>
              </a:rPr>
              <a:t>Rewards programme, early access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626864" y="3749040"/>
            <a:ext cx="2011680" cy="1188720"/>
          </a:xfrm>
          <a:prstGeom prst="rect">
            <a:avLst/>
          </a:prstGeom>
          <a:solidFill>
            <a:srgbClr val="D97706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26864" y="37764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At Risk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26864" y="4050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800 customers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£430K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626864" y="4462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E2E8F0"/>
                </a:solidFill>
              </a:rPr>
              <a:t>Win-back campaign, discount trigger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803136" y="3749040"/>
            <a:ext cx="2011680" cy="1188720"/>
          </a:xfrm>
          <a:prstGeom prst="rect">
            <a:avLst/>
          </a:prstGeom>
          <a:solidFill>
            <a:srgbClr val="64748B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03136" y="37764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Lost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03136" y="4050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883 customers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£203K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803136" y="4462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E2E8F0"/>
                </a:solidFill>
              </a:rPr>
              <a:t>Re-engagement or remove from list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Cohort Retention Analysis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9436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777240"/>
            <a:ext cx="251460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0" y="777240"/>
            <a:ext cx="64008" cy="402336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868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Key Insights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0" y="132588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• Month-1 retention averages ~20-25%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• Dec 2010 cohort shows strongest long-term retention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• Retention drops sharply after month 1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• Holiday-acquired customers retain better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• 💡 Focus onboarding on first 30 days post-purchase — this is the critical retention window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Product Performance Insights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846320" cy="23317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00400"/>
            <a:ext cx="4846320" cy="1828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303520" y="777240"/>
            <a:ext cx="3566160" cy="4251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303520" y="777240"/>
            <a:ext cx="64008" cy="4251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0" y="868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0" y="132588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🏆 Top 10 products generate disproportionate revenue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🕯️ Decorative / gift items dominate top sellers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⚠️  Many SKUs have &lt;£2 avg revenue per transaction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📦 Bundling low-value items can boost basket size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💡 Apply 80/20 rule: focus marketing budget on top 20% of SKUs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0F172A"/>
                </a:solidFill>
              </a:rPr>
              <a:t>🗑️ Consider discontinuing or repricing the bottom 50 SKUs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Strategic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384048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686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Protect Champions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280160"/>
            <a:ext cx="252374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VIP tier with early access, free delivery &amp; dedicated account support for top 100 CLV customers.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3227832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27832" y="822960"/>
            <a:ext cx="2743200" cy="38404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0" name="Text 8"/>
          <p:cNvSpPr/>
          <p:nvPr/>
        </p:nvSpPr>
        <p:spPr>
          <a:xfrm>
            <a:off x="3319272" y="8686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Win Back At-Risk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280160"/>
            <a:ext cx="252374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3-step email win-back sequence with escalating discount. Target 800 at-risk customers (£430K revenue at stake).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181344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822960"/>
            <a:ext cx="2743200" cy="38404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6272784" y="8686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Expand Internationally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91072" y="1280160"/>
            <a:ext cx="252374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localised landing pages &amp; EU fulfilment hub for NL, DE, FR. Reduce geographic revenue concentration from 83%.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2743200" cy="3840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9260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🎄  Maximise Q4 Seasonality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3337560"/>
            <a:ext cx="252374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Pre-stock top SKUs by September. Launch Q4 campaigns by late Sep. Create gift bundles at £25/£50/£75 price points.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3227832" y="28803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27832" y="2880360"/>
            <a:ext cx="274320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3319272" y="29260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Nurture One-Time Buyers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3337560"/>
            <a:ext cx="252374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post-purchase email flow at 14, 30, 60 days. Offer 10% off second order. Convert ~35% one-time buyers.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181344" y="28803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81344" y="2880360"/>
            <a:ext cx="27432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6272784" y="29260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Optimise Campaign Timing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91072" y="3337560"/>
            <a:ext cx="252374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email &amp; paid ads on Tuesdays and Thursdays (peak revenue days). Run weekend flash sales to lift Saturday revenue.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840480"/>
            <a:ext cx="2286000" cy="130302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200400"/>
            <a:ext cx="1645920" cy="685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6858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Revenue grew 60%+ over the analysis period with clear Q4 seasonal peaks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Champions (934 customers) generate 70% of revenue — protection is paramount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Month-1 retention of ~20-25% represents the single largest growth lever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Geographic concentration in UK (83%) poses strategic risk — international expansion warranted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Product portfolio can be optimised: reinvest in top 20% SKUs, rationalise the tail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792</Words>
  <Application>Microsoft Office PowerPoint</Application>
  <PresentationFormat>On-screen Show (16:9)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Performance Analysis</dc:title>
  <dc:subject>PptxGenJS Presentation</dc:subject>
  <dc:creator>Senior Data Analyst</dc:creator>
  <cp:lastModifiedBy>Gogo Harrison</cp:lastModifiedBy>
  <cp:revision>6</cp:revision>
  <dcterms:created xsi:type="dcterms:W3CDTF">2026-03-28T08:12:38Z</dcterms:created>
  <dcterms:modified xsi:type="dcterms:W3CDTF">2026-03-30T11:35:32Z</dcterms:modified>
</cp:coreProperties>
</file>